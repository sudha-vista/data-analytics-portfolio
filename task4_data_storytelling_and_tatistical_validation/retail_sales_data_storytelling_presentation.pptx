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71625"/>
            <a:ext cx="9144000" cy="888365"/>
          </a:xfrm>
        </p:spPr>
        <p:txBody>
          <a:bodyPr/>
          <a:p>
            <a:r>
              <a:rPr lang="en-US" sz="4400" b="1">
                <a:solidFill>
                  <a:schemeClr val="accent6">
                    <a:lumMod val="50000"/>
                  </a:schemeClr>
                </a:solidFill>
              </a:rPr>
              <a:t>Retail Sales Analysis</a:t>
            </a:r>
            <a:endParaRPr lang="en-US" sz="44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99105"/>
            <a:ext cx="9407525" cy="3102610"/>
          </a:xfrm>
        </p:spPr>
        <p:txBody>
          <a:bodyPr>
            <a:normAutofit/>
          </a:bodyPr>
          <a:p>
            <a:r>
              <a:rPr lang="en-US" sz="2800" b="1">
                <a:cs typeface="+mn-lt"/>
              </a:rPr>
              <a:t>Data Storytelling &amp; Statistical Validation</a:t>
            </a:r>
            <a:endParaRPr lang="en-US" sz="2800" b="1"/>
          </a:p>
          <a:p>
            <a:r>
              <a:rPr lang="en-US"/>
              <a:t>Prepared By: Sudarshini Sri V</a:t>
            </a:r>
            <a:endParaRPr lang="en-US"/>
          </a:p>
          <a:p>
            <a:endParaRPr lang="en-US"/>
          </a:p>
          <a:p>
            <a:r>
              <a:rPr lang="en-US"/>
              <a:t>Data Analytics Internship</a:t>
            </a:r>
            <a:endParaRPr lang="en-US"/>
          </a:p>
          <a:p>
            <a:r>
              <a:rPr lang="en-US"/>
              <a:t>ApexPlanet Software Pvt. Ltd.</a:t>
            </a:r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H="1" flipV="1">
            <a:off x="-862965" y="4450080"/>
            <a:ext cx="67945" cy="69215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51155" y="1911350"/>
            <a:ext cx="11428730" cy="66040"/>
          </a:xfrm>
          <a:prstGeom prst="line">
            <a:avLst/>
          </a:prstGeom>
          <a:ln w="76200"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3375"/>
            <a:ext cx="10515600" cy="1028700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Project Overview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51104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2300" b="1"/>
              <a:t>Content</a:t>
            </a:r>
            <a:endParaRPr lang="en-US" sz="2300" b="1"/>
          </a:p>
          <a:p>
            <a:pPr marL="0" indent="0">
              <a:buNone/>
            </a:pPr>
            <a:r>
              <a:rPr lang="en-US" sz="2300" b="1"/>
              <a:t>Retail Sales Analysis </a:t>
            </a:r>
            <a:r>
              <a:rPr lang="en-US" sz="2300"/>
              <a:t>is an Excel-based data analytics project designed to evaluate</a:t>
            </a:r>
            <a:endParaRPr lang="en-US" sz="2300"/>
          </a:p>
          <a:p>
            <a:pPr marL="0" indent="0">
              <a:buNone/>
            </a:pPr>
            <a:r>
              <a:rPr lang="en-US" sz="2300"/>
              <a:t>sales performance using key business metrics and interactive visualizations. The</a:t>
            </a:r>
            <a:endParaRPr lang="en-US" sz="2300"/>
          </a:p>
          <a:p>
            <a:pPr marL="0" indent="0">
              <a:buNone/>
            </a:pPr>
            <a:r>
              <a:rPr lang="en-US" sz="2300"/>
              <a:t>project analyzes sales trends, top-performing products, and regional sales </a:t>
            </a:r>
            <a:endParaRPr lang="en-US" sz="2300"/>
          </a:p>
          <a:p>
            <a:pPr marL="0" indent="0">
              <a:buNone/>
            </a:pPr>
            <a:r>
              <a:rPr lang="en-US" sz="2300"/>
              <a:t>performance to generate actionable business insights and support data-driven decision-</a:t>
            </a:r>
            <a:endParaRPr lang="en-US" sz="2300"/>
          </a:p>
          <a:p>
            <a:pPr marL="0" indent="0">
              <a:buNone/>
            </a:pPr>
            <a:r>
              <a:rPr lang="en-US" sz="2300"/>
              <a:t>making.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r>
              <a:rPr lang="en-US" sz="2300" b="1"/>
              <a:t>Objectives</a:t>
            </a:r>
            <a:endParaRPr lang="en-US" sz="2300" b="1"/>
          </a:p>
          <a:p>
            <a:r>
              <a:rPr lang="en-US" sz="2300"/>
              <a:t>Analyze retail sales performance.</a:t>
            </a:r>
            <a:endParaRPr lang="en-US" sz="2300"/>
          </a:p>
          <a:p>
            <a:r>
              <a:rPr lang="en-US" sz="2300"/>
              <a:t>Track monthly sales trends.</a:t>
            </a:r>
            <a:endParaRPr lang="en-US" sz="2300"/>
          </a:p>
          <a:p>
            <a:r>
              <a:rPr lang="en-US" sz="2300"/>
              <a:t>Identify top-performing products and locations.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11003280" y="2202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1135"/>
            <a:ext cx="10515600" cy="1106170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Business Objectives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6670"/>
            <a:ext cx="10515600" cy="50419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b="1"/>
              <a:t>Objective of the Project </a:t>
            </a:r>
            <a:endParaRPr lang="en-US" b="1"/>
          </a:p>
          <a:p>
            <a:pPr marL="0" indent="0">
              <a:buNone/>
            </a:pPr>
            <a:r>
              <a:rPr lang="en-US" sz="2400"/>
              <a:t>This project aims to analyze retail sales data to understand sales performance,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identify business trends, and support better decision-making through data 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visualization. </a:t>
            </a:r>
            <a:endParaRPr lang="en-US" sz="2400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Key Objectives</a:t>
            </a:r>
            <a:endParaRPr lang="en-US" sz="2400"/>
          </a:p>
          <a:p>
            <a:r>
              <a:rPr lang="en-US" sz="2400"/>
              <a:t>Compare montly sales trends (September vs. October).</a:t>
            </a:r>
            <a:endParaRPr lang="en-US" sz="2400"/>
          </a:p>
          <a:p>
            <a:r>
              <a:rPr lang="en-US" sz="2400"/>
              <a:t>Evaluate sales performance across different locations.</a:t>
            </a:r>
            <a:endParaRPr lang="en-US" sz="2400"/>
          </a:p>
          <a:p>
            <a:r>
              <a:rPr lang="en-US" sz="2400"/>
              <a:t>Calculate key performance indicators (KPIs).</a:t>
            </a:r>
            <a:endParaRPr lang="en-US" sz="2400"/>
          </a:p>
          <a:p>
            <a:r>
              <a:rPr lang="en-US" sz="2400"/>
              <a:t>Provide business insights and recommendations for improving sales.</a:t>
            </a:r>
            <a:endParaRPr lang="en-US" b="1"/>
          </a:p>
          <a:p>
            <a:pPr marL="0" indent="0">
              <a:buNone/>
            </a:pPr>
            <a:endParaRPr 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365"/>
            <a:ext cx="10515600" cy="857885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Retail Sales Dashboard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Content Placeholder 3" descr="retail_sales_interactive_dashboar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116330"/>
            <a:ext cx="10449560" cy="5340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2685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Key Insights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4170"/>
            <a:ext cx="10515600" cy="4563110"/>
          </a:xfrm>
        </p:spPr>
        <p:txBody>
          <a:bodyPr>
            <a:normAutofit lnSpcReduction="20000"/>
          </a:bodyPr>
          <a:p>
            <a:r>
              <a:rPr lang="en-US" sz="2400" b="1"/>
              <a:t>Total sales </a:t>
            </a:r>
            <a:r>
              <a:rPr lang="en-US" sz="2400"/>
              <a:t>generated during the analysis period were</a:t>
            </a:r>
            <a:r>
              <a:rPr lang="en-US" sz="2400" b="1"/>
              <a:t> 507,110 </a:t>
            </a:r>
            <a:r>
              <a:rPr lang="en-US" sz="2400"/>
              <a:t>from</a:t>
            </a:r>
            <a:r>
              <a:rPr lang="en-US" sz="2400" b="1"/>
              <a:t> 27 orders.</a:t>
            </a: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r>
              <a:rPr lang="en-US" sz="2400" b="1"/>
              <a:t>October </a:t>
            </a:r>
            <a:r>
              <a:rPr lang="en-US" sz="2400"/>
              <a:t>recorded the highest sales </a:t>
            </a:r>
            <a:r>
              <a:rPr lang="en-US" sz="2400" b="1"/>
              <a:t>(402,110)</a:t>
            </a:r>
            <a:r>
              <a:rPr lang="en-US" sz="2400"/>
              <a:t>, contributing significantly more than </a:t>
            </a:r>
            <a:r>
              <a:rPr lang="en-US" sz="2400" b="1"/>
              <a:t>September (105,500).</a:t>
            </a: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r>
              <a:rPr lang="en-US" sz="2400" b="1"/>
              <a:t>Laptop </a:t>
            </a:r>
            <a:r>
              <a:rPr lang="en-US" sz="2400"/>
              <a:t>was the top-performing product, generating </a:t>
            </a:r>
            <a:r>
              <a:rPr lang="en-US" sz="2400" b="1"/>
              <a:t>223,000 </a:t>
            </a:r>
            <a:r>
              <a:rPr lang="en-US" sz="2400"/>
              <a:t>in sales.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r>
              <a:rPr lang="en-US" sz="2400" b="1"/>
              <a:t>Chennai</a:t>
            </a:r>
            <a:r>
              <a:rPr lang="en-US" sz="2400"/>
              <a:t> was the highest-performing location with</a:t>
            </a:r>
            <a:r>
              <a:rPr lang="en-US" sz="2400" b="1"/>
              <a:t> 140,500 </a:t>
            </a:r>
            <a:r>
              <a:rPr lang="en-US" sz="2400"/>
              <a:t>in total sales.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r>
              <a:rPr lang="en-US" sz="2400" b="1"/>
              <a:t>The Average Order Value (AOV) </a:t>
            </a:r>
            <a:r>
              <a:rPr lang="en-US" sz="2400"/>
              <a:t>was </a:t>
            </a:r>
            <a:r>
              <a:rPr lang="en-US" sz="2400" b="1"/>
              <a:t>18,783 </a:t>
            </a:r>
            <a:r>
              <a:rPr lang="en-US" sz="2400"/>
              <a:t>indicating high-value retail transactions.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0485"/>
            <a:ext cx="10515600" cy="1533525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Recommendations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2595"/>
            <a:ext cx="10515600" cy="4453255"/>
          </a:xfrm>
        </p:spPr>
        <p:txBody>
          <a:bodyPr>
            <a:normAutofit/>
          </a:bodyPr>
          <a:p>
            <a:r>
              <a:rPr lang="en-US" sz="2400"/>
              <a:t>Increase inventory for </a:t>
            </a:r>
            <a:r>
              <a:rPr lang="en-US" sz="2400" b="1"/>
              <a:t>Laptops</a:t>
            </a:r>
            <a:r>
              <a:rPr lang="en-US" sz="2400"/>
              <a:t> to meet customer demand.</a:t>
            </a:r>
            <a:endParaRPr lang="en-US" sz="2400"/>
          </a:p>
          <a:p>
            <a:endParaRPr lang="en-US" sz="2400"/>
          </a:p>
          <a:p>
            <a:r>
              <a:rPr lang="en-US" sz="2400"/>
              <a:t>Strengthen marketing efforts in </a:t>
            </a:r>
            <a:r>
              <a:rPr lang="en-US" sz="2400" b="1"/>
              <a:t>Bangalore </a:t>
            </a:r>
            <a:r>
              <a:rPr lang="en-US" sz="2400"/>
              <a:t>and</a:t>
            </a:r>
            <a:r>
              <a:rPr lang="en-US" sz="2400" b="1"/>
              <a:t> Hyderabad</a:t>
            </a:r>
            <a:r>
              <a:rPr lang="en-US" sz="2400"/>
              <a:t> to improve sales.</a:t>
            </a:r>
            <a:endParaRPr lang="en-US" sz="2400"/>
          </a:p>
          <a:p>
            <a:endParaRPr lang="en-US" sz="2400"/>
          </a:p>
          <a:p>
            <a:r>
              <a:rPr lang="en-US" sz="2400"/>
              <a:t>Continue successful sales strategies that contributed to </a:t>
            </a:r>
            <a:r>
              <a:rPr lang="en-US" sz="2400" b="1"/>
              <a:t>October’s</a:t>
            </a:r>
            <a:r>
              <a:rPr lang="en-US" sz="2400"/>
              <a:t> higher sales.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Monitor monthly sales trends regularly to improve inventory planning and business decisions.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795"/>
            <a:ext cx="10515600" cy="911225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Statistical Validation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9020"/>
            <a:ext cx="10515600" cy="52038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2300" b="1"/>
              <a:t>Hypothesis Testing</a:t>
            </a:r>
            <a:endParaRPr lang="en-US" sz="2300" b="1"/>
          </a:p>
          <a:p>
            <a:pPr marL="0" indent="0">
              <a:buNone/>
            </a:pPr>
            <a:r>
              <a:rPr lang="en-US" sz="2300"/>
              <a:t>Null Hypothesis: There is </a:t>
            </a:r>
            <a:r>
              <a:rPr lang="en-US" sz="2300" b="1"/>
              <a:t>no significant difference</a:t>
            </a:r>
            <a:r>
              <a:rPr lang="en-US" sz="2300"/>
              <a:t> between September and October sales.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r>
              <a:rPr lang="en-US" sz="2300" b="1"/>
              <a:t>Alternative Hypothesis:</a:t>
            </a:r>
            <a:endParaRPr lang="en-US" sz="2300" b="1"/>
          </a:p>
          <a:p>
            <a:pPr marL="0" indent="0">
              <a:buNone/>
            </a:pPr>
            <a:r>
              <a:rPr lang="en-US" sz="2300"/>
              <a:t>There is a </a:t>
            </a:r>
            <a:r>
              <a:rPr lang="en-US" sz="2300" b="1"/>
              <a:t>significant difference</a:t>
            </a:r>
            <a:r>
              <a:rPr lang="en-US" sz="2300"/>
              <a:t> between September and October sales.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r>
              <a:rPr lang="en-US" sz="2300" b="1"/>
              <a:t>Observation:</a:t>
            </a:r>
            <a:endParaRPr lang="en-US" sz="2300" b="1"/>
          </a:p>
          <a:p>
            <a:pPr marL="0" indent="0">
              <a:buNone/>
            </a:pPr>
            <a:r>
              <a:rPr lang="en-US" sz="2300"/>
              <a:t>October sales</a:t>
            </a:r>
            <a:r>
              <a:rPr lang="en-US" sz="2300" b="1"/>
              <a:t> (402,110)</a:t>
            </a:r>
            <a:r>
              <a:rPr lang="en-US" sz="2300"/>
              <a:t> were much higher than September sales </a:t>
            </a:r>
            <a:r>
              <a:rPr lang="en-US" sz="2300" b="1"/>
              <a:t>(105,000)</a:t>
            </a:r>
            <a:r>
              <a:rPr lang="en-US" sz="2300"/>
              <a:t>.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r>
              <a:rPr lang="en-US" sz="2300" b="1"/>
              <a:t>Conclusion:</a:t>
            </a:r>
            <a:endParaRPr lang="en-US" sz="2300" b="1"/>
          </a:p>
          <a:p>
            <a:pPr marL="0" indent="0">
              <a:buNone/>
            </a:pPr>
            <a:r>
              <a:rPr lang="en-US" sz="2300"/>
              <a:t>Based on the sales analysis, October performed better than September, indicating improved sales performed during the analysis period.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endParaRPr lang="en-US" sz="2300"/>
          </a:p>
          <a:p>
            <a:pPr marL="0" indent="0">
              <a:buNone/>
            </a:pPr>
            <a:r>
              <a:rPr lang="en-US" sz="2300"/>
              <a:t> </a:t>
            </a:r>
            <a:endParaRPr lang="en-US"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480"/>
          </a:xfrm>
        </p:spPr>
        <p:txBody>
          <a:bodyPr/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</a:rPr>
              <a:t>Conclusion</a:t>
            </a:r>
            <a:endParaRPr lang="en-US" sz="40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670"/>
            <a:ext cx="10515600" cy="4753610"/>
          </a:xfrm>
        </p:spPr>
        <p:txBody>
          <a:bodyPr>
            <a:normAutofit fontScale="90000" lnSpcReduction="20000"/>
          </a:bodyPr>
          <a:p>
            <a:r>
              <a:rPr lang="en-US" sz="2665"/>
              <a:t>Successfully analyzed retail sales data using WPS Excel.</a:t>
            </a:r>
            <a:endParaRPr lang="en-US" sz="2665"/>
          </a:p>
          <a:p>
            <a:endParaRPr lang="en-US" sz="2665"/>
          </a:p>
          <a:p>
            <a:r>
              <a:rPr lang="en-US" sz="2665"/>
              <a:t>Built an interactive dashboard to bisualize key business metrics and sales trends.</a:t>
            </a:r>
            <a:endParaRPr lang="en-US" sz="2665"/>
          </a:p>
          <a:p>
            <a:endParaRPr lang="en-US" sz="2665"/>
          </a:p>
          <a:p>
            <a:r>
              <a:rPr lang="en-US" sz="2665"/>
              <a:t>Identified top-performing products, locations, and monthly sales performance.</a:t>
            </a:r>
            <a:endParaRPr lang="en-US" sz="2665"/>
          </a:p>
          <a:p>
            <a:endParaRPr lang="en-US" sz="2665"/>
          </a:p>
          <a:p>
            <a:r>
              <a:rPr lang="en-US" sz="2665"/>
              <a:t>Generated actionable insights and recommendations to support data-driven decision-making.</a:t>
            </a:r>
            <a:endParaRPr lang="en-US" sz="2665"/>
          </a:p>
          <a:p>
            <a:pPr marL="0" indent="0">
              <a:buNone/>
            </a:pPr>
            <a:endParaRPr lang="en-US" sz="2665"/>
          </a:p>
          <a:p>
            <a:pPr marL="0" indent="0">
              <a:buNone/>
            </a:pPr>
            <a:r>
              <a:rPr lang="en-US" sz="2665" b="1"/>
              <a:t>                                                         </a:t>
            </a:r>
            <a:r>
              <a:rPr lang="en-US" sz="3110" b="1"/>
              <a:t>   Thank You!</a:t>
            </a:r>
            <a:endParaRPr lang="en-US" sz="3110" b="1"/>
          </a:p>
          <a:p>
            <a:pPr marL="0" indent="0">
              <a:buNone/>
            </a:pPr>
            <a:endParaRPr lang="en-US" sz="3110"/>
          </a:p>
          <a:p>
            <a:pPr marL="0" indent="0">
              <a:buNone/>
            </a:pPr>
            <a:r>
              <a:rPr lang="en-US" sz="2665" b="1"/>
              <a:t>Any Questions?</a:t>
            </a:r>
            <a:endParaRPr lang="en-US" sz="2665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2658</Words>
  <Application>WPS Presentation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Forte</vt:lpstr>
      <vt:lpstr>IrisUPC</vt:lpstr>
      <vt:lpstr>Informal Roman</vt:lpstr>
      <vt:lpstr>Imprint MT Shadow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WIN7ULT</dc:creator>
  <cp:lastModifiedBy>sudha</cp:lastModifiedBy>
  <cp:revision>8</cp:revision>
  <dcterms:created xsi:type="dcterms:W3CDTF">2025-07-23T00:59:00Z</dcterms:created>
  <dcterms:modified xsi:type="dcterms:W3CDTF">2026-06-27T14:03:34Z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12B661342FE2494B951ECBC77E2C66FB_13</vt:lpwstr>
  </property>
  <property fmtid="{D5CDD505-2E9C-101B-9397-08002B2CF9AE}" pid="3" name="KSOProductBuildVer">
    <vt:lpwstr>1033-12.2.0.23196</vt:lpwstr>
  </property>
</Properties>
</file>